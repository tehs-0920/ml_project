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sldIdLst>
    <p:sldId id="2767" r:id="rId5"/>
    <p:sldId id="261" r:id="rId6"/>
    <p:sldId id="260" r:id="rId7"/>
    <p:sldId id="264" r:id="rId8"/>
    <p:sldId id="27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3AFBF-54E1-4F25-9A29-888448923168}" v="1" dt="2026-08-25T09:01:15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5"/>
  </p:normalViewPr>
  <p:slideViewPr>
    <p:cSldViewPr snapToGrid="0">
      <p:cViewPr varScale="1">
        <p:scale>
          <a:sx n="76" d="100"/>
          <a:sy n="76" d="100"/>
        </p:scale>
        <p:origin x="77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ika Chowdary" userId="9bf969133c221ee9" providerId="LiveId" clId="{60671C4A-F965-4571-A3DF-DFDF3720C8E4}"/>
    <pc:docChg chg="modSld">
      <pc:chgData name="Geethika Chowdary" userId="9bf969133c221ee9" providerId="LiveId" clId="{60671C4A-F965-4571-A3DF-DFDF3720C8E4}" dt="2026-08-25T09:01:15.404" v="0" actId="767"/>
      <pc:docMkLst>
        <pc:docMk/>
      </pc:docMkLst>
      <pc:sldChg chg="addSp modSp">
        <pc:chgData name="Geethika Chowdary" userId="9bf969133c221ee9" providerId="LiveId" clId="{60671C4A-F965-4571-A3DF-DFDF3720C8E4}" dt="2026-08-25T09:01:15.404" v="0" actId="767"/>
        <pc:sldMkLst>
          <pc:docMk/>
          <pc:sldMk cId="4198690590" sldId="260"/>
        </pc:sldMkLst>
        <pc:spChg chg="add mod">
          <ac:chgData name="Geethika Chowdary" userId="9bf969133c221ee9" providerId="LiveId" clId="{60671C4A-F965-4571-A3DF-DFDF3720C8E4}" dt="2026-08-25T09:01:15.404" v="0" actId="767"/>
          <ac:spMkLst>
            <pc:docMk/>
            <pc:sldMk cId="4198690590" sldId="260"/>
            <ac:spMk id="3" creationId="{732A7821-25C6-D855-00D3-2A97338E2FF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8/25/2026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256" y="1203190"/>
            <a:ext cx="10721591" cy="141409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t">
            <a:normAutofit fontScale="47500" lnSpcReduction="20000"/>
          </a:bodyPr>
          <a:lstStyle/>
          <a:p>
            <a:pPr algn="ctr"/>
            <a:r>
              <a:rPr lang="en-US" sz="5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EXPLAINABLE MACHINE LEARNING FRAMEWORK FOR INTELLIGENT CROP RECOMMENDATION –  25SC2107E</a:t>
            </a:r>
          </a:p>
          <a:p>
            <a:pPr algn="ctr"/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BA7098-EA69-560C-85F4-7B66995FDE1B}"/>
              </a:ext>
            </a:extLst>
          </p:cNvPr>
          <p:cNvSpPr txBox="1"/>
          <p:nvPr/>
        </p:nvSpPr>
        <p:spPr>
          <a:xfrm>
            <a:off x="3573863" y="3551804"/>
            <a:ext cx="5044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NIRMALA JYOTHI 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47FF7-3D3D-F1BB-661F-767A62DAE9FF}"/>
              </a:ext>
            </a:extLst>
          </p:cNvPr>
          <p:cNvSpPr txBox="1"/>
          <p:nvPr/>
        </p:nvSpPr>
        <p:spPr>
          <a:xfrm>
            <a:off x="8618136" y="5290195"/>
            <a:ext cx="4240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2520030354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Geethika Chowdary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2500030280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Tahseen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2520030311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Sait Lahari</a:t>
            </a: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lose-up of a wood grain">
            <a:extLst>
              <a:ext uri="{FF2B5EF4-FFF2-40B4-BE49-F238E27FC236}">
                <a16:creationId xmlns:a16="http://schemas.microsoft.com/office/drawing/2014/main" id="{503626A1-9E15-A048-4FD7-2D14DDE4162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821" t="4743" r="46654" b="18111"/>
          <a:stretch>
            <a:fillRect/>
          </a:stretch>
        </p:blipFill>
        <p:spPr>
          <a:xfrm>
            <a:off x="0" y="0"/>
            <a:ext cx="198120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00960" y="1391920"/>
            <a:ext cx="8882888" cy="44897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plays a vital role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production, rural livelihoods, and sustainable development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Selecting the right crop depends on important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and climatic factors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 (N), Phosphorus (P), Potassium (K), temperature, humidity, pH, and rainfall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Traditional crop selection mainly relies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experience and general knowledge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may not always be suitable for changing environmental conditions. To overcome this limitation, the proposed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Explainable Machine Learning Framework for Intelligent Crop Recommendation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multiple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the most suitable crop based on soil and environmental conditions.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the strengths of different models to improve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accuracy, reliability, and robustness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framework also incorporates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Artificial Intelligence (XAI)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transparent and understandable recommendations by showing how different factors influence the prediction. This helps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farmers, agricultural professionals, and decision-makers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informed, data-driven crop selection decisions, reduce unsuitable crop choices, optimize resource utilization, and promote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efficient, sustainable, and trustworthy farming practices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B0791CD-3341-3807-3D61-93ECB5E8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168" y="-32004"/>
            <a:ext cx="603504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9525628" cy="4008859"/>
          </a:xfrm>
        </p:spPr>
        <p:txBody>
          <a:bodyPr/>
          <a:lstStyle/>
          <a:p>
            <a:r>
              <a:rPr lang="en-US" dirty="0"/>
              <a:t>LITERATURE REVIEW TABLE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A7821-25C6-D855-00D3-2A97338E2FF2}"/>
              </a:ext>
            </a:extLst>
          </p:cNvPr>
          <p:cNvSpPr txBox="1"/>
          <p:nvPr/>
        </p:nvSpPr>
        <p:spPr>
          <a:xfrm>
            <a:off x="5637125" y="29743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" y="-867664"/>
            <a:ext cx="7223760" cy="2980944"/>
          </a:xfrm>
        </p:spPr>
        <p:txBody>
          <a:bodyPr>
            <a:noAutofit/>
          </a:bodyPr>
          <a:lstStyle/>
          <a:p>
            <a:r>
              <a:rPr lang="en-US" sz="10000" dirty="0"/>
              <a:t>DATA SET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Placeholder 14" descr="A close-up of a desert">
            <a:extLst>
              <a:ext uri="{FF2B5EF4-FFF2-40B4-BE49-F238E27FC236}">
                <a16:creationId xmlns:a16="http://schemas.microsoft.com/office/drawing/2014/main" id="{451CAF84-52A3-93FF-1B27-01E25A9FCB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46720" y="0"/>
            <a:ext cx="4145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B10B-093D-E7AE-A7CA-E2352556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lose-up of a wood grain">
            <a:extLst>
              <a:ext uri="{FF2B5EF4-FFF2-40B4-BE49-F238E27FC236}">
                <a16:creationId xmlns:a16="http://schemas.microsoft.com/office/drawing/2014/main" id="{30C5E1D4-451C-7C6A-96F4-C2CE79B6CA6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821" t="4743" r="46654" b="18111"/>
          <a:stretch>
            <a:fillRect/>
          </a:stretch>
        </p:blipFill>
        <p:spPr>
          <a:xfrm>
            <a:off x="0" y="0"/>
            <a:ext cx="1981200" cy="68580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2C5FDA-07BD-BE3B-0244-EF8AD05B84B6}"/>
              </a:ext>
            </a:extLst>
          </p:cNvPr>
          <p:cNvSpPr txBox="1"/>
          <p:nvPr/>
        </p:nvSpPr>
        <p:spPr>
          <a:xfrm>
            <a:off x="4571999" y="1678329"/>
            <a:ext cx="64471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7531400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{4FEF803E-FFEA-4629-97B6-D433FC34E773}05f950ec-c865-457c-93ae-9eb2ef1c603f-TFa19fa653-f273-4169-96ef-448bb1cd1027_win32</Template>
  <TotalTime>27</TotalTime>
  <Words>241</Words>
  <Application>Microsoft Office PowerPoint</Application>
  <PresentationFormat>Widescreen</PresentationFormat>
  <Paragraphs>20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Neue Haas Grotesk Text Pro</vt:lpstr>
      <vt:lpstr>Times New Roman</vt:lpstr>
      <vt:lpstr>OasisVTI</vt:lpstr>
      <vt:lpstr>PowerPoint Presentation</vt:lpstr>
      <vt:lpstr>ABSTRACT:</vt:lpstr>
      <vt:lpstr>LITERATURE REVIEW TABLE  </vt:lpstr>
      <vt:lpstr>DATA SET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 devi</dc:creator>
  <cp:lastModifiedBy>rama devi</cp:lastModifiedBy>
  <cp:revision>1</cp:revision>
  <dcterms:created xsi:type="dcterms:W3CDTF">2026-08-18T08:05:15Z</dcterms:created>
  <dcterms:modified xsi:type="dcterms:W3CDTF">2026-08-25T09:01:17Z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